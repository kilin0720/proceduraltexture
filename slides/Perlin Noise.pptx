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38"/>
  </p:normalViewPr>
  <p:slideViewPr>
    <p:cSldViewPr snapToGrid="0">
      <p:cViewPr>
        <p:scale>
          <a:sx n="122" d="100"/>
          <a:sy n="122" d="100"/>
        </p:scale>
        <p:origin x="3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7491-36EF-A6EE-37EF-C3B86FE3FA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Procedural</a:t>
            </a:r>
            <a:r>
              <a:rPr lang="zh-CN" altLang="en-US" dirty="0"/>
              <a:t> </a:t>
            </a:r>
            <a:r>
              <a:rPr lang="en-US" altLang="zh-CN" dirty="0"/>
              <a:t>Texture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583B8-C59A-AD6A-4F8B-F7E0073C80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Perlin</a:t>
            </a:r>
            <a:r>
              <a:rPr lang="zh-CN" altLang="en-US" sz="4800" dirty="0"/>
              <a:t> </a:t>
            </a:r>
            <a:r>
              <a:rPr lang="en-US" altLang="zh-CN" sz="4800" dirty="0"/>
              <a:t>Noise</a:t>
            </a:r>
            <a:endParaRPr lang="en-CN" sz="4800" dirty="0"/>
          </a:p>
        </p:txBody>
      </p:sp>
    </p:spTree>
    <p:extLst>
      <p:ext uri="{BB962C8B-B14F-4D97-AF65-F5344CB8AC3E}">
        <p14:creationId xmlns:p14="http://schemas.microsoft.com/office/powerpoint/2010/main" val="348774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BCCF-35B4-4F82-CB0D-3E330F8C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White</a:t>
            </a:r>
            <a:r>
              <a:rPr lang="zh-CN" altLang="en-US" dirty="0"/>
              <a:t> </a:t>
            </a:r>
            <a:r>
              <a:rPr lang="en-US" altLang="zh-CN" dirty="0"/>
              <a:t>Noise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Perlin</a:t>
            </a:r>
            <a:r>
              <a:rPr lang="zh-CN" altLang="en-US" dirty="0"/>
              <a:t> </a:t>
            </a:r>
            <a:r>
              <a:rPr lang="en-US" altLang="zh-CN" dirty="0"/>
              <a:t>Noise</a:t>
            </a:r>
            <a:endParaRPr lang="en-CN" dirty="0"/>
          </a:p>
        </p:txBody>
      </p:sp>
      <p:pic>
        <p:nvPicPr>
          <p:cNvPr id="1026" name="Picture 2" descr="使用随机方法产生的白噪声">
            <a:extLst>
              <a:ext uri="{FF2B5EF4-FFF2-40B4-BE49-F238E27FC236}">
                <a16:creationId xmlns:a16="http://schemas.microsoft.com/office/drawing/2014/main" id="{13754D03-039B-2F03-E47B-F51ADA48D0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2284411"/>
            <a:ext cx="3086894" cy="308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CE01054-DC8F-89BE-CB32-5C26CC8D5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990" y="2284412"/>
            <a:ext cx="3086894" cy="308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97B805-8CAF-D70A-318F-F10A13EA00AC}"/>
              </a:ext>
            </a:extLst>
          </p:cNvPr>
          <p:cNvSpPr txBox="1"/>
          <p:nvPr/>
        </p:nvSpPr>
        <p:spPr>
          <a:xfrm>
            <a:off x="1906176" y="543196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White</a:t>
            </a:r>
            <a:r>
              <a:rPr lang="zh-CN" altLang="en-US" dirty="0"/>
              <a:t> </a:t>
            </a:r>
            <a:r>
              <a:rPr lang="en-US" altLang="zh-CN" dirty="0"/>
              <a:t>Noise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7749E-B41C-9613-C7F2-12997C090F8C}"/>
              </a:ext>
            </a:extLst>
          </p:cNvPr>
          <p:cNvSpPr txBox="1"/>
          <p:nvPr/>
        </p:nvSpPr>
        <p:spPr>
          <a:xfrm>
            <a:off x="6902038" y="5462182"/>
            <a:ext cx="12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Perlin</a:t>
            </a:r>
            <a:r>
              <a:rPr lang="zh-CN" altLang="en-US" dirty="0"/>
              <a:t> </a:t>
            </a:r>
            <a:r>
              <a:rPr lang="en-US" altLang="zh-CN" dirty="0"/>
              <a:t>Noise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3DE4E-14A8-35E2-1369-7EF5B059FD9E}"/>
              </a:ext>
            </a:extLst>
          </p:cNvPr>
          <p:cNvSpPr txBox="1"/>
          <p:nvPr/>
        </p:nvSpPr>
        <p:spPr>
          <a:xfrm>
            <a:off x="9360199" y="2528888"/>
            <a:ext cx="2768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solidFill>
                  <a:schemeClr val="accent5"/>
                </a:solidFill>
              </a:rPr>
              <a:t>Natural</a:t>
            </a:r>
            <a:r>
              <a:rPr lang="zh-CN" altLang="en-US" dirty="0">
                <a:solidFill>
                  <a:schemeClr val="accent5"/>
                </a:solidFill>
              </a:rPr>
              <a:t> </a:t>
            </a:r>
            <a:r>
              <a:rPr lang="en-US" altLang="zh-CN" dirty="0">
                <a:solidFill>
                  <a:schemeClr val="accent5"/>
                </a:solidFill>
              </a:rPr>
              <a:t>Spatial</a:t>
            </a:r>
            <a:r>
              <a:rPr lang="zh-CN" altLang="en-US" dirty="0">
                <a:solidFill>
                  <a:schemeClr val="accent5"/>
                </a:solidFill>
              </a:rPr>
              <a:t> </a:t>
            </a:r>
            <a:r>
              <a:rPr lang="en-US" altLang="zh-CN" dirty="0">
                <a:solidFill>
                  <a:schemeClr val="accent5"/>
                </a:solidFill>
              </a:rPr>
              <a:t>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5"/>
                </a:solidFill>
              </a:rPr>
              <a:t>Random</a:t>
            </a:r>
            <a:r>
              <a:rPr lang="zh-CN" altLang="en-US" dirty="0">
                <a:solidFill>
                  <a:schemeClr val="accent5"/>
                </a:solidFill>
              </a:rPr>
              <a:t> </a:t>
            </a:r>
            <a:r>
              <a:rPr lang="en-US" altLang="zh-CN" dirty="0">
                <a:solidFill>
                  <a:schemeClr val="accent5"/>
                </a:solidFill>
              </a:rPr>
              <a:t>Trend</a:t>
            </a:r>
          </a:p>
        </p:txBody>
      </p:sp>
    </p:spTree>
    <p:extLst>
      <p:ext uri="{BB962C8B-B14F-4D97-AF65-F5344CB8AC3E}">
        <p14:creationId xmlns:p14="http://schemas.microsoft.com/office/powerpoint/2010/main" val="205418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E3D1-A131-22B2-72FF-ABA95FA3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Idea</a:t>
            </a:r>
            <a:endParaRPr lang="en-CN" dirty="0"/>
          </a:p>
        </p:txBody>
      </p:sp>
      <p:pic>
        <p:nvPicPr>
          <p:cNvPr id="2050" name="Picture 2" descr="已生成图片">
            <a:extLst>
              <a:ext uri="{FF2B5EF4-FFF2-40B4-BE49-F238E27FC236}">
                <a16:creationId xmlns:a16="http://schemas.microsoft.com/office/drawing/2014/main" id="{50AE05EC-0611-6BA8-03F0-E4D3102B0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128" y="2567619"/>
            <a:ext cx="3000375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11242C-9CEC-7116-B64C-0BC14F818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244" y="2164394"/>
            <a:ext cx="3619500" cy="340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19ECDB-DB55-6660-B37B-B1867A34852F}"/>
              </a:ext>
            </a:extLst>
          </p:cNvPr>
          <p:cNvSpPr txBox="1"/>
          <p:nvPr/>
        </p:nvSpPr>
        <p:spPr>
          <a:xfrm>
            <a:off x="1387664" y="6373336"/>
            <a:ext cx="57751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(a)</a:t>
            </a:r>
            <a:r>
              <a:rPr lang="en-US" sz="1050" dirty="0" err="1"/>
              <a:t>THUBreast</a:t>
            </a:r>
            <a:r>
              <a:rPr lang="en-US" sz="1050" dirty="0"/>
              <a:t>: an open-source breast phantom generation software for x-ray imaging and dosimetry</a:t>
            </a:r>
            <a:endParaRPr lang="en-CN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6CC70-9A3A-2B75-B06F-32528B160C1E}"/>
              </a:ext>
            </a:extLst>
          </p:cNvPr>
          <p:cNvSpPr txBox="1"/>
          <p:nvPr/>
        </p:nvSpPr>
        <p:spPr>
          <a:xfrm>
            <a:off x="9743440" y="2773680"/>
            <a:ext cx="1519006" cy="1675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Locality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Continuity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Consistency</a:t>
            </a:r>
            <a:endParaRPr lang="en-CN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92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8847C-7DC1-721F-8453-865C7ADA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BF18-7598-1164-621E-A051D98D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Field Construction and Interpolation Mechanism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D84F7-A54E-03E5-1398-AC998B471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708" y="3809834"/>
            <a:ext cx="3553609" cy="25127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0DCBEE-3FED-424D-89EB-9DFA131EA71D}"/>
              </a:ext>
            </a:extLst>
          </p:cNvPr>
          <p:cNvSpPr txBox="1"/>
          <p:nvPr/>
        </p:nvSpPr>
        <p:spPr>
          <a:xfrm>
            <a:off x="389997" y="2311425"/>
            <a:ext cx="45903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Dot Product</a:t>
            </a:r>
            <a:r>
              <a:rPr lang="en-US" dirty="0"/>
              <a:t>: </a:t>
            </a:r>
            <a:r>
              <a:rPr lang="en-US" i="1" dirty="0"/>
              <a:t>Measuring a Gradient’s Influence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grad(p</a:t>
            </a:r>
            <a:r>
              <a:rPr lang="en-US" altLang="zh-CN" baseline="-25000" dirty="0">
                <a:solidFill>
                  <a:schemeClr val="accent2">
                    <a:lumMod val="75000"/>
                  </a:schemeClr>
                </a:solidFill>
              </a:rPr>
              <a:t>0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p−p</a:t>
            </a:r>
            <a:r>
              <a:rPr lang="en-US" altLang="zh-CN" baseline="-25000" dirty="0">
                <a:solidFill>
                  <a:schemeClr val="accent2">
                    <a:lumMod val="75000"/>
                  </a:schemeClr>
                </a:solidFill>
              </a:rPr>
              <a:t>0</a:t>
            </a:r>
            <a:endParaRPr lang="en-US" baseline="-25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influence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g⋅d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CN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C7B04-1E1A-DB25-61D0-E3DDC570C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878" y="3788753"/>
            <a:ext cx="2705669" cy="2551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F9BE09-64EE-914B-C3F5-E04753918672}"/>
              </a:ext>
            </a:extLst>
          </p:cNvPr>
          <p:cNvSpPr txBox="1"/>
          <p:nvPr/>
        </p:nvSpPr>
        <p:spPr>
          <a:xfrm>
            <a:off x="5104263" y="2311425"/>
            <a:ext cx="33300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Fade function:</a:t>
            </a:r>
            <a:r>
              <a:rPr lang="en-US" dirty="0"/>
              <a:t> </a:t>
            </a:r>
            <a:r>
              <a:rPr lang="en-US" i="1" dirty="0"/>
              <a:t>Smooth the interpolation weight</a:t>
            </a:r>
          </a:p>
          <a:p>
            <a:endParaRPr lang="en-US" dirty="0"/>
          </a:p>
          <a:p>
            <a:pPr algn="ctr"/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fade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(t) = 6t⁵ - 15t⁴ + 10t³</a:t>
            </a:r>
          </a:p>
          <a:p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21D34-2067-D4D6-3F18-C16000697C66}"/>
              </a:ext>
            </a:extLst>
          </p:cNvPr>
          <p:cNvSpPr txBox="1"/>
          <p:nvPr/>
        </p:nvSpPr>
        <p:spPr>
          <a:xfrm>
            <a:off x="8627089" y="2265258"/>
            <a:ext cx="33300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Lerp function:</a:t>
            </a:r>
            <a:r>
              <a:rPr lang="en-US" dirty="0"/>
              <a:t> </a:t>
            </a:r>
            <a:r>
              <a:rPr lang="en-US" i="1" dirty="0"/>
              <a:t>Blend values using that weight</a:t>
            </a:r>
          </a:p>
          <a:p>
            <a:endParaRPr lang="en-US" i="1" dirty="0"/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lerp(a, b, t) = (1 − t)·a +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t·b</a:t>
            </a: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88518A-E4EF-3FDD-3F1C-E7543FCF1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58" y="4016678"/>
            <a:ext cx="3373861" cy="265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8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409D-7576-32F1-DF0B-83A2A192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</a:t>
            </a:r>
            <a:r>
              <a:rPr lang="en-US" dirty="0" err="1"/>
              <a:t>m</a:t>
            </a:r>
            <a:r>
              <a:rPr lang="en-US" altLang="zh-CN" dirty="0" err="1"/>
              <a:t>plementation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D6697-E612-C032-8EE8-B74053E439A9}"/>
              </a:ext>
            </a:extLst>
          </p:cNvPr>
          <p:cNvSpPr txBox="1"/>
          <p:nvPr/>
        </p:nvSpPr>
        <p:spPr>
          <a:xfrm>
            <a:off x="660400" y="2235200"/>
            <a:ext cx="524810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Generate</a:t>
            </a:r>
            <a:r>
              <a:rPr lang="zh-CN" altLang="en-US" dirty="0"/>
              <a:t> </a:t>
            </a:r>
            <a:r>
              <a:rPr lang="en-US" altLang="zh-CN" dirty="0"/>
              <a:t>grids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coordinates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Generate pseudo-random lattice gradients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Measure directional influence from lattice gradients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Blend corner influences with smooth interpolation</a:t>
            </a:r>
          </a:p>
          <a:p>
            <a:pPr marL="342900" indent="-342900">
              <a:buAutoNum type="arabicPeriod"/>
            </a:pP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41DAF-B530-A268-E2AB-C1F0BAC8C66B}"/>
              </a:ext>
            </a:extLst>
          </p:cNvPr>
          <p:cNvSpPr txBox="1"/>
          <p:nvPr/>
        </p:nvSpPr>
        <p:spPr>
          <a:xfrm>
            <a:off x="7124700" y="2084832"/>
            <a:ext cx="240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>
              <a:latin typeface="Chakra Petch" pitchFamily="2" charset="-34"/>
              <a:cs typeface="Chakra Petch" pitchFamily="2" charset="-34"/>
            </a:endParaRPr>
          </a:p>
          <a:p>
            <a:r>
              <a:rPr lang="zh-CN" altLang="en-US" dirty="0">
                <a:latin typeface="Chakra Petch" pitchFamily="2" charset="-34"/>
                <a:cs typeface="Chakra Petch" pitchFamily="2" charset="-34"/>
              </a:rPr>
              <a:t> </a:t>
            </a:r>
            <a:endParaRPr lang="en-US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76538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86</TotalTime>
  <Words>139</Words>
  <Application>Microsoft Macintosh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Chakra Petch</vt:lpstr>
      <vt:lpstr>Tw Cen MT</vt:lpstr>
      <vt:lpstr>Tw Cen MT Condensed</vt:lpstr>
      <vt:lpstr>Wingdings 3</vt:lpstr>
      <vt:lpstr>Integral</vt:lpstr>
      <vt:lpstr>Procedural Texture</vt:lpstr>
      <vt:lpstr>White Noise vs Perlin Noise</vt:lpstr>
      <vt:lpstr>Basic Idea</vt:lpstr>
      <vt:lpstr>Gradient Field Construction and Interpolation Mechanism</vt:lpstr>
      <vt:lpstr>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Runzhou, Mao</dc:creator>
  <cp:lastModifiedBy>Runzhou, Mao</cp:lastModifiedBy>
  <cp:revision>5</cp:revision>
  <dcterms:created xsi:type="dcterms:W3CDTF">2025-05-03T18:59:23Z</dcterms:created>
  <dcterms:modified xsi:type="dcterms:W3CDTF">2025-05-03T20:25:28Z</dcterms:modified>
</cp:coreProperties>
</file>